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— baseline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PIO val</c:v>
                  </c:pt>
                  <c:pt idx="1">
                    <c:v>broiler_seg</c:v>
                  </c:pt>
                  <c:pt idx="2">
                    <c:v>chicken_fum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0.71</c:v>
                </c:pt>
                <c:pt idx="1">
                  <c:v>0.536</c:v>
                </c:pt>
                <c:pt idx="2">
                  <c:v>0.058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— MOWA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PIO val</c:v>
                  </c:pt>
                  <c:pt idx="1">
                    <c:v>broiler_seg</c:v>
                  </c:pt>
                  <c:pt idx="2">
                    <c:v>chicken_fum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0.638</c:v>
                </c:pt>
                <c:pt idx="1">
                  <c:v>0.457</c:v>
                </c:pt>
                <c:pt idx="2">
                  <c:v>0.049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B' — fine-tune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PIO val</c:v>
                  </c:pt>
                  <c:pt idx="1">
                    <c:v>broiler_seg</c:v>
                  </c:pt>
                  <c:pt idx="2">
                    <c:v>chicken_fum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0.683</c:v>
                </c:pt>
                <c:pt idx="1">
                  <c:v>0.53</c:v>
                </c:pt>
                <c:pt idx="2">
                  <c:v>0.058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8EE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920240"/>
            <a:ext cx="5486400" cy="5486400"/>
          </a:xfrm>
          <a:prstGeom prst="ellipse">
            <a:avLst/>
          </a:prstGeom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005840"/>
            <a:ext cx="3657600" cy="3657600"/>
          </a:xfrm>
          <a:prstGeom prst="ellipse">
            <a:avLst/>
          </a:prstGeom>
          <a:ln w="15240">
            <a:solidFill>
              <a:srgbClr val="2A9D8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365760"/>
            <a:ext cx="2377440" cy="2377440"/>
          </a:xfrm>
          <a:prstGeom prst="ellipse">
            <a:avLst/>
          </a:prstGeom>
          <a:ln w="1778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— LAPORAN KEMAJUAN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Rektifikasi Fisheye MOWA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untuk Deteksi Broiler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 model MOWA dan eksperimen A/B/B' — mengapa rektifikasi belum mengungguli baseline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4572000"/>
            <a:ext cx="2011680" cy="36576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5029200"/>
            <a:ext cx="1568196" cy="457200"/>
          </a:xfrm>
          <a:prstGeom prst="roundRect">
            <a:avLst>
              <a:gd name="adj" fmla="val 16000"/>
            </a:avLst>
          </a:prstGeom>
          <a:solidFill>
            <a:srgbClr val="173A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029200"/>
            <a:ext cx="1568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 (PIO)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19756" y="5029200"/>
            <a:ext cx="1952244" cy="457200"/>
          </a:xfrm>
          <a:prstGeom prst="roundRect">
            <a:avLst>
              <a:gd name="adj" fmla="val 16000"/>
            </a:avLst>
          </a:prstGeom>
          <a:solidFill>
            <a:srgbClr val="173A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9756" y="5029200"/>
            <a:ext cx="1952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MOWA — TPAMI 2025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50292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173A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5029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 B / B'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Skripsi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3349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Latar &amp; Tujuan Eksperimen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Generalisasi Estimasi Berat &amp; Deteksi Anomali Broiler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110916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783080"/>
            <a:ext cx="82296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2167128"/>
            <a:ext cx="603504" cy="603504"/>
          </a:xfrm>
          <a:prstGeom prst="ellipse">
            <a:avLst/>
          </a:prstGeom>
          <a:solidFill>
            <a:srgbClr val="F5F8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521" y="2311969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Masalah generalisasi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91640" y="235000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Detektor broiler dilatih pada dataset PIO. Kamera atas peternakan punya distorsi barrel/wide-angle — apakah akurasi bisa dijaga lintas kamera/dataset?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300984"/>
            <a:ext cx="110916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300984"/>
            <a:ext cx="82296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" y="3685032"/>
            <a:ext cx="603504" cy="603504"/>
          </a:xfrm>
          <a:prstGeom prst="ellipse">
            <a:avLst/>
          </a:prstGeom>
          <a:solidFill>
            <a:srgbClr val="F5F8F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21" y="3829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34838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Pivot ke model end-to-end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691640" y="386791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Heuristik radial lama ("DaFIR-light") hanya perhitungan statistik, bukan model. Diganti MOWA: rektifikasi terpelajar tanpa kalibrasi kamera.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48640" y="4818888"/>
            <a:ext cx="110916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4818888"/>
            <a:ext cx="82296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5202936"/>
            <a:ext cx="603504" cy="603504"/>
          </a:xfrm>
          <a:prstGeom prst="ellipse">
            <a:avLst/>
          </a:prstGeom>
          <a:solidFill>
            <a:srgbClr val="F5F8F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21" y="5347777"/>
            <a:ext cx="313822" cy="31382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91640" y="50017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Pertanyaan uji (A/B/B')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1691640" y="5385816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menaruh MOWA sebagai praproses di depan YOLO meningkatkan mAP? Diuji pada PIO + 2 dataset eksternal.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3349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EKSPERIMEN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Tiga Kondisi: A → B → B'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Generalisasi Estimasi Berat &amp; Deteksi Anomali Broiler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3429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103120"/>
            <a:ext cx="3429000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Shape 7"/>
          <p:cNvSpPr/>
          <p:nvPr/>
        </p:nvSpPr>
        <p:spPr>
          <a:xfrm>
            <a:off x="1879092" y="2487168"/>
            <a:ext cx="768096" cy="76809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435" y="2671511"/>
            <a:ext cx="399410" cy="3994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34015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— Baseline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804672" y="388620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 dilatih &amp; diuji pada gambar ASLI (terdistorsi).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3273552"/>
            <a:ext cx="402336" cy="40233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544568" y="2103120"/>
            <a:ext cx="3429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44568" y="2103120"/>
            <a:ext cx="3429000" cy="10972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7" name="Shape 12"/>
          <p:cNvSpPr/>
          <p:nvPr/>
        </p:nvSpPr>
        <p:spPr>
          <a:xfrm>
            <a:off x="5875020" y="2487168"/>
            <a:ext cx="768096" cy="768096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363" y="2671511"/>
            <a:ext cx="399410" cy="3994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44568" y="34015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— MOWA apa adanya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4800600" y="388620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uji direktifikasi MOWA; detektor dipakai TANPA latih ulang.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3273552"/>
            <a:ext cx="402336" cy="40233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40496" y="2103120"/>
            <a:ext cx="3429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8540496" y="2103120"/>
            <a:ext cx="342900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Shape 17"/>
          <p:cNvSpPr/>
          <p:nvPr/>
        </p:nvSpPr>
        <p:spPr>
          <a:xfrm>
            <a:off x="9870948" y="2487168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5291" y="2671511"/>
            <a:ext cx="399410" cy="39941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540496" y="34015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B' — Rectify-both</a:t>
            </a:r>
            <a:endParaRPr lang="en-US" sz="1900" dirty="0"/>
          </a:p>
        </p:txBody>
      </p:sp>
      <p:sp>
        <p:nvSpPr>
          <p:cNvPr id="27" name="Text 19"/>
          <p:cNvSpPr/>
          <p:nvPr/>
        </p:nvSpPr>
        <p:spPr>
          <a:xfrm>
            <a:off x="8796528" y="3886200"/>
            <a:ext cx="2916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+ uji sama-sama direktifikasi; detektor DI-FINE-TUNE ulang.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F2A43"/>
          </a:solidFill>
          <a:ln/>
        </p:spPr>
      </p:sp>
      <p:sp>
        <p:nvSpPr>
          <p:cNvPr id="29" name="Shape 21"/>
          <p:cNvSpPr/>
          <p:nvPr/>
        </p:nvSpPr>
        <p:spPr>
          <a:xfrm>
            <a:off x="868680" y="5349240"/>
            <a:ext cx="585216" cy="585216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132" y="5489692"/>
            <a:ext cx="304312" cy="30431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645920" y="521208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Hipotesis metodologis: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9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menaruh gambar rectified di depan detektor yang dilatih pada gambar asli menimbulkan </a:t>
            </a:r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mismatch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9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B' menguji apakah fine-tune memulihkannya.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3349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MOWA · 1 DARI 5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Ikhtisar: Apa itu MOWA?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Generalisasi Estimasi Berat &amp; Deteksi Anomali Broiler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54864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783080"/>
            <a:ext cx="82296" cy="4343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011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Multiple-in-One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Warping Model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8680" y="2880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Liao, Yue, Wu, Loy — IEEE TPAMI 2025 (arXiv:2404.10716)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36499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3337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model, banyak tugas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34440" y="363931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Menyelesaikan 6 tugas warping (fisheye, wide-angle, rotasi, potret, dll) dalam satu kerangka.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7939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4251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kalibrasi kamera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34440" y="455371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Memprediksi medan perpindahan piksel langsung dari gambar — tak butuh intrinsik/parameter distorsi.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9379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5166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kamera campur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34440" y="546811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blind/self-supervised, cocok untuk PIO + eksternal yang kameranya tak terkalibrasi.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263640" y="1783080"/>
            <a:ext cx="5376672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263640" y="1783080"/>
            <a:ext cx="82296" cy="434340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23" name="Text 17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Kontrak Inferensi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6583680" y="2514600"/>
            <a:ext cx="4754880" cy="786384"/>
          </a:xfrm>
          <a:prstGeom prst="roundRect">
            <a:avLst>
              <a:gd name="adj" fmla="val 6977"/>
            </a:avLst>
          </a:prstGeom>
          <a:solidFill>
            <a:srgbClr val="F5F8FA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83680" y="2514600"/>
            <a:ext cx="82296" cy="7863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0"/>
          <p:cNvSpPr/>
          <p:nvPr/>
        </p:nvSpPr>
        <p:spPr>
          <a:xfrm>
            <a:off x="6784848" y="2624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784848" y="2880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256×256 + 1 mask = 4 kanal</a:t>
            </a:r>
            <a:endParaRPr lang="en-US" sz="13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778240" y="3355848"/>
            <a:ext cx="274320" cy="27432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583680" y="3593592"/>
            <a:ext cx="4754880" cy="786384"/>
          </a:xfrm>
          <a:prstGeom prst="roundRect">
            <a:avLst>
              <a:gd name="adj" fmla="val 6977"/>
            </a:avLst>
          </a:prstGeom>
          <a:solidFill>
            <a:srgbClr val="F5F8FA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583680" y="3593592"/>
            <a:ext cx="82296" cy="78638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1" name="Text 24"/>
          <p:cNvSpPr/>
          <p:nvPr/>
        </p:nvSpPr>
        <p:spPr>
          <a:xfrm>
            <a:off x="6784848" y="3703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784848" y="39593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warp 2-tahap (TPS + flow)</a:t>
            </a:r>
            <a:endParaRPr lang="en-US" sz="13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778240" y="4434840"/>
            <a:ext cx="274320" cy="27432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583680" y="4672584"/>
            <a:ext cx="4754880" cy="786384"/>
          </a:xfrm>
          <a:prstGeom prst="roundRect">
            <a:avLst>
              <a:gd name="adj" fmla="val 6977"/>
            </a:avLst>
          </a:prstGeom>
          <a:solidFill>
            <a:srgbClr val="F5F8FA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583680" y="4672584"/>
            <a:ext cx="82296" cy="786384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36" name="Text 28"/>
          <p:cNvSpPr/>
          <p:nvPr/>
        </p:nvSpPr>
        <p:spPr>
          <a:xfrm>
            <a:off x="6784848" y="4782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6784848" y="50383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rectified pada resolusi asli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3349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MOWA · 2 DARI 5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Arsitektur: Backbone Uformer (U-Net Transformer)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Generalisasi Estimasi Berat &amp; Deteksi Anomali Broiler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22960" y="1965960"/>
            <a:ext cx="960120" cy="5486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5694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256²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0208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01952" y="1965960"/>
            <a:ext cx="960120" cy="9601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901952" y="29809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128²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01952" y="20208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980944" y="1965960"/>
            <a:ext cx="960120" cy="1371600"/>
          </a:xfrm>
          <a:prstGeom prst="rect">
            <a:avLst/>
          </a:prstGeom>
          <a:solidFill>
            <a:srgbClr val="2A9D8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980944" y="33924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64²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980944" y="20208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059936" y="1965960"/>
            <a:ext cx="960120" cy="1783080"/>
          </a:xfrm>
          <a:prstGeom prst="rect">
            <a:avLst/>
          </a:prstGeom>
          <a:solidFill>
            <a:srgbClr val="2A9D8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059936" y="38039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32²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059936" y="20208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276088" y="1965960"/>
            <a:ext cx="1051560" cy="2057400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276088" y="265176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16²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784848" y="1965960"/>
            <a:ext cx="960120" cy="1783080"/>
          </a:xfrm>
          <a:prstGeom prst="rect">
            <a:avLst/>
          </a:prstGeom>
          <a:solidFill>
            <a:srgbClr val="E9A23B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784848" y="38039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32²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84848" y="20208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863840" y="1965960"/>
            <a:ext cx="960120" cy="1371600"/>
          </a:xfrm>
          <a:prstGeom prst="rect">
            <a:avLst/>
          </a:prstGeom>
          <a:solidFill>
            <a:srgbClr val="E9A23B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863840" y="33924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64²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863840" y="20208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942832" y="1965960"/>
            <a:ext cx="960120" cy="960120"/>
          </a:xfrm>
          <a:prstGeom prst="rect">
            <a:avLst/>
          </a:prstGeom>
          <a:solidFill>
            <a:srgbClr val="F0B96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942832" y="29809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128²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942832" y="20208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0021824" y="1965960"/>
            <a:ext cx="960120" cy="548640"/>
          </a:xfrm>
          <a:prstGeom prst="rect">
            <a:avLst/>
          </a:prstGeom>
          <a:solidFill>
            <a:srgbClr val="F0B96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0021824" y="25694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256²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021824" y="20208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22960" y="4315968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(biru-teal) menyusut ke bottleneck 16², decoder (kuning) memulihkan ke 256² — dengan skip-connection.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48640" y="4892040"/>
            <a:ext cx="544982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48640" y="4892040"/>
            <a:ext cx="82296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Shape 34"/>
          <p:cNvSpPr/>
          <p:nvPr/>
        </p:nvSpPr>
        <p:spPr>
          <a:xfrm>
            <a:off x="804672" y="5138928"/>
            <a:ext cx="548640" cy="548640"/>
          </a:xfrm>
          <a:prstGeom prst="ellipse">
            <a:avLst/>
          </a:prstGeom>
          <a:solidFill>
            <a:srgbClr val="F5F8FA"/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46" y="5270602"/>
            <a:ext cx="285293" cy="285293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508760" y="5029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Blok LeWin</a:t>
            </a:r>
            <a:endParaRPr lang="en-US" sz="1500" dirty="0"/>
          </a:p>
        </p:txBody>
      </p:sp>
      <p:sp>
        <p:nvSpPr>
          <p:cNvPr id="40" name="Text 36"/>
          <p:cNvSpPr/>
          <p:nvPr/>
        </p:nvSpPr>
        <p:spPr>
          <a:xfrm>
            <a:off x="1508760" y="534009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Atensi dalam jendela lokal 8×8 (hemat komputasi vs atensi global) + depthwise-conv (LeFF) untuk detail spasial.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6190488" y="4892040"/>
            <a:ext cx="544982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6190488" y="4892040"/>
            <a:ext cx="82296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3" name="Shape 39"/>
          <p:cNvSpPr/>
          <p:nvPr/>
        </p:nvSpPr>
        <p:spPr>
          <a:xfrm>
            <a:off x="6446520" y="5138928"/>
            <a:ext cx="548640" cy="548640"/>
          </a:xfrm>
          <a:prstGeom prst="ellipse">
            <a:avLst/>
          </a:prstGeom>
          <a:solidFill>
            <a:srgbClr val="F5F8FA"/>
          </a:solidFill>
          <a:ln/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194" y="5270602"/>
            <a:ext cx="285293" cy="285293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7150608" y="5029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Bentuk-U</a:t>
            </a:r>
            <a:endParaRPr lang="en-US" sz="1500" dirty="0"/>
          </a:p>
        </p:txBody>
      </p:sp>
      <p:sp>
        <p:nvSpPr>
          <p:cNvPr id="46" name="Text 41"/>
          <p:cNvSpPr/>
          <p:nvPr/>
        </p:nvSpPr>
        <p:spPr>
          <a:xfrm>
            <a:off x="7150608" y="534009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tahap encoder (downsample 2×) → bottleneck 16² → 4 tahap decoder dengan skip-connection.</a:t>
            </a:r>
            <a:endParaRPr lang="en-US" sz="1150" dirty="0"/>
          </a:p>
        </p:txBody>
      </p:sp>
      <p:sp>
        <p:nvSpPr>
          <p:cNvPr id="47" name="Text 42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3349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MOWA · 3 DARI 5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Mekanisme Inti: Warping Dua Tahap (kasar → halus)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Generalisasi Estimasi Berat &amp; Deteksi Anomali Broiler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54406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783080"/>
            <a:ext cx="544068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0848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223845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600200" y="23591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TPS kasar bertingkat (global)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68680" y="29718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kepala regresi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memprediksi pergeseran </a:t>
            </a:r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titik kontrol Thin-Plate-Spline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makin rapat (8→10→12→14).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68680" y="37947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tps[i] = pre + tps_up[i−1]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68680" y="41605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coarse-to-fine: tiap kepala menambah koreksi di atas kepala sebelumnya.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68680" y="4846320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F5F8FA"/>
          </a:solidFill>
          <a:ln w="12700">
            <a:solidFill>
              <a:srgbClr val="D9E2E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51560" y="495604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Efek: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pelurusan besar (debarreling) — rel bengkok jadi lurus, tepi ditarik masuk. Ayam tetap terdeteksi (mAP50 utuh).</a:t>
            </a:r>
            <a:endParaRPr lang="en-US" sz="1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3749040"/>
            <a:ext cx="457200" cy="4572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537960" y="1783080"/>
            <a:ext cx="5102352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37960" y="1783080"/>
            <a:ext cx="5102352" cy="10972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22" name="Shape 17"/>
          <p:cNvSpPr/>
          <p:nvPr/>
        </p:nvSpPr>
        <p:spPr>
          <a:xfrm>
            <a:off x="6812280" y="2084832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899" y="2238451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8952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2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589520" y="2359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Residual flow halus (lokal)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858000" y="29718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mengeluarkan </a:t>
            </a:r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medan aliran optik padat 2-kanal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koreksi per-piksel untuk distorsi lokal yang tak tertangkap TPS mulus.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858000" y="38404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final_flow = flow + tps_flow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6858000" y="42062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resample( resample(img, TPS), flow )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858000" y="4846320"/>
            <a:ext cx="4617720" cy="1005840"/>
          </a:xfrm>
          <a:prstGeom prst="roundRect">
            <a:avLst>
              <a:gd name="adj" fmla="val 5455"/>
            </a:avLst>
          </a:prstGeom>
          <a:solidFill>
            <a:srgbClr val="FBF1DE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040880" y="495604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57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Konsekuensi: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warping = 2× interpolasi bilinear → tepi objek melunak. Ini menggerus presisi lokalisasi (mAP50-95).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3349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MOWA · 4 DARI 5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Deteksi Tugas Otomatis via Point-Classifier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Generalisasi Estimasi Berat &amp; Deteksi Anomali Broiler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148840"/>
            <a:ext cx="2514600" cy="1005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4048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 TPS final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titik kontrol dari Tahap 1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2729484"/>
            <a:ext cx="347472" cy="3474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47288" y="21488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47288" y="2148840"/>
            <a:ext cx="2514600" cy="100584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24048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PointNet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84448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jenis warp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(fisheye? wide-angle? …)</a:t>
            </a:r>
            <a:endParaRPr lang="en-US" sz="11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2729484"/>
            <a:ext cx="347472" cy="34747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345936" y="21488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45936" y="2148840"/>
            <a:ext cx="2514600" cy="10058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5"/>
          <p:cNvSpPr/>
          <p:nvPr/>
        </p:nvSpPr>
        <p:spPr>
          <a:xfrm>
            <a:off x="6483096" y="24048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Softmax → prompt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83096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point_cls → F.softmax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4" y="2729484"/>
            <a:ext cx="347472" cy="34747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244584" y="21488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244584" y="2148840"/>
            <a:ext cx="2514600" cy="100584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25" name="Text 19"/>
          <p:cNvSpPr/>
          <p:nvPr/>
        </p:nvSpPr>
        <p:spPr>
          <a:xfrm>
            <a:off x="9381744" y="24048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Kondisikan decoder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381744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learning menuntun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ke tugas yang tepat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114800"/>
            <a:ext cx="11091672" cy="18288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28" name="Shape 22"/>
          <p:cNvSpPr/>
          <p:nvPr/>
        </p:nvSpPr>
        <p:spPr>
          <a:xfrm>
            <a:off x="548640" y="4480560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81" y="4625401"/>
            <a:ext cx="313822" cy="31382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25880" y="448056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task-id manual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566928" y="519379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sendiri yang menentukan jenis distorsi — di test-path default, index 4 = fisheye.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261104" y="4480560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5945" y="4625401"/>
            <a:ext cx="313822" cy="31382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038344" y="448056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learning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4279392" y="519379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bobot melayani banyak tugas; prompt mengaktifkan perilaku yang relevan per gambar.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7973568" y="4480560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8409" y="4625401"/>
            <a:ext cx="313822" cy="31382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750808" y="448056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 untuk kita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7991856" y="519379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 terdeteksi sebagai fisheye/wide-angle secara otomatis — tak perlu anotasi jenis kamera.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3349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MOWA · 5 DARI 5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 256² ke Resolusi Asli — dan Harganya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Generalisasi Estimasi Berat &amp; Deteksi Anomali Broiler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783080"/>
            <a:ext cx="82296" cy="2148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965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berpikir di 256², hasil di resolusi penuh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256032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Mesh TPS di-upsample ke resolusi asli (mis. 1920×1080).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Residual flow di-interpolasi bilinear + diskalakan (flow[:,0]*=scale_W).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Warping akhir = grid-sample bilinear di resolusi penuh.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76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783080"/>
            <a:ext cx="82296" cy="100584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4" name="Shape 11"/>
          <p:cNvSpPr/>
          <p:nvPr/>
        </p:nvSpPr>
        <p:spPr>
          <a:xfrm>
            <a:off x="6510528" y="2011680"/>
            <a:ext cx="548640" cy="548640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202" y="2143354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Resampling ganda → blur tepi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223760" y="22402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kali interpolasi melunakkan tepi objek. Broiler kecil rapat paling terdampak.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63640" y="2926080"/>
            <a:ext cx="5376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63640" y="2926080"/>
            <a:ext cx="82296" cy="100584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20" name="Shape 16"/>
          <p:cNvSpPr/>
          <p:nvPr/>
        </p:nvSpPr>
        <p:spPr>
          <a:xfrm>
            <a:off x="6510528" y="3154680"/>
            <a:ext cx="548640" cy="548640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202" y="3286354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23760" y="3063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FOV trim / cropping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7223760" y="33832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Tepi ditarik masuk (clamp mesh) → objek pinggir mengecil atau keluar frame.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48640" y="416052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0F2A43"/>
          </a:solidFill>
          <a:ln/>
        </p:spPr>
      </p:sp>
      <p:sp>
        <p:nvSpPr>
          <p:cNvPr id="25" name="Shape 20"/>
          <p:cNvSpPr/>
          <p:nvPr/>
        </p:nvSpPr>
        <p:spPr>
          <a:xfrm>
            <a:off x="868680" y="4434840"/>
            <a:ext cx="621792" cy="621792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910" y="4584070"/>
            <a:ext cx="323332" cy="3233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91640" y="44074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Jembatan ke hasil A/B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1691640" y="4800600"/>
            <a:ext cx="9646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9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Rektifikasi kuat secara geometris (rel lurus) →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nyaris tak turun (0.900 → 0.897)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9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Tetapi resampling ganda + FOV trim menggerus lokalisasi ketat →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 turun 0.710 → 0.638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9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Artinya MOWA tetap MENEMUKAN ayam, tapi kotaknya kurang pas.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3349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Definisi Tiga Kondisi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Generalisasi Estimasi Berat &amp; Deteksi Anomali Broiler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182880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828800"/>
            <a:ext cx="3566160" cy="914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920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0080" y="24323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ASLI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3538728"/>
            <a:ext cx="3017520" cy="12802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6850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ASLI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4251960"/>
            <a:ext cx="3017520" cy="12802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3982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Detektor: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adanya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14400" y="4965192"/>
            <a:ext cx="3017520" cy="12802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51114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acuan pembanding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14400" y="5678424"/>
            <a:ext cx="3017520" cy="12802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20" name="Shape 17"/>
          <p:cNvSpPr/>
          <p:nvPr/>
        </p:nvSpPr>
        <p:spPr>
          <a:xfrm>
            <a:off x="4389120" y="182880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89120" y="1828800"/>
            <a:ext cx="3566160" cy="91440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22" name="Text 19"/>
          <p:cNvSpPr/>
          <p:nvPr/>
        </p:nvSpPr>
        <p:spPr>
          <a:xfrm>
            <a:off x="4389120" y="1920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4389120" y="24323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MOWA apa adanya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66344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ASLI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663440" y="3538728"/>
            <a:ext cx="3017520" cy="12802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26" name="Text 23"/>
          <p:cNvSpPr/>
          <p:nvPr/>
        </p:nvSpPr>
        <p:spPr>
          <a:xfrm>
            <a:off x="4663440" y="36850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RECTIFIED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663440" y="4251960"/>
            <a:ext cx="3017520" cy="12802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28" name="Text 25"/>
          <p:cNvSpPr/>
          <p:nvPr/>
        </p:nvSpPr>
        <p:spPr>
          <a:xfrm>
            <a:off x="4663440" y="43982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Detektor: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latih ulang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663440" y="4965192"/>
            <a:ext cx="3017520" cy="12802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30" name="Text 27"/>
          <p:cNvSpPr/>
          <p:nvPr/>
        </p:nvSpPr>
        <p:spPr>
          <a:xfrm>
            <a:off x="4663440" y="51114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praproses saja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663440" y="5678424"/>
            <a:ext cx="3017520" cy="12802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32" name="Shape 29"/>
          <p:cNvSpPr/>
          <p:nvPr/>
        </p:nvSpPr>
        <p:spPr>
          <a:xfrm>
            <a:off x="8138160" y="182880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138160" y="1828800"/>
            <a:ext cx="3566160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Text 31"/>
          <p:cNvSpPr/>
          <p:nvPr/>
        </p:nvSpPr>
        <p:spPr>
          <a:xfrm>
            <a:off x="8138160" y="1920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B'</a:t>
            </a:r>
            <a:endParaRPr lang="en-US" sz="3000" dirty="0"/>
          </a:p>
        </p:txBody>
      </p:sp>
      <p:sp>
        <p:nvSpPr>
          <p:cNvPr id="35" name="Text 32"/>
          <p:cNvSpPr/>
          <p:nvPr/>
        </p:nvSpPr>
        <p:spPr>
          <a:xfrm>
            <a:off x="8138160" y="24323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Rectify-both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41248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RECTIFIED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8412480" y="3538728"/>
            <a:ext cx="3017520" cy="12802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38" name="Text 35"/>
          <p:cNvSpPr/>
          <p:nvPr/>
        </p:nvSpPr>
        <p:spPr>
          <a:xfrm>
            <a:off x="8412480" y="36850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RECTIFIED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412480" y="4251960"/>
            <a:ext cx="3017520" cy="12802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40" name="Text 37"/>
          <p:cNvSpPr/>
          <p:nvPr/>
        </p:nvSpPr>
        <p:spPr>
          <a:xfrm>
            <a:off x="8412480" y="43982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Detektor: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ulang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8412480" y="4965192"/>
            <a:ext cx="3017520" cy="12802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42" name="Text 39"/>
          <p:cNvSpPr/>
          <p:nvPr/>
        </p:nvSpPr>
        <p:spPr>
          <a:xfrm>
            <a:off x="8412480" y="51114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adaptasi domain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8412480" y="5678424"/>
            <a:ext cx="3017520" cy="12802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44" name="Text 41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3349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mAP50-95 pada Tiga Dataset (A / B / B')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Generalisasi Estimasi Berat &amp; Deteksi Anomali Broiler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83080"/>
          <a:ext cx="7040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818120" y="1783080"/>
            <a:ext cx="382219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818120" y="1783080"/>
            <a:ext cx="3822192" cy="109728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11" name="Text 7"/>
          <p:cNvSpPr/>
          <p:nvPr/>
        </p:nvSpPr>
        <p:spPr>
          <a:xfrm>
            <a:off x="7818120" y="205740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Rata-rata Δ vs 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818120" y="2514600"/>
            <a:ext cx="3822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9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−0.053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7818120" y="329184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MOWA apa adanya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412480" y="3794760"/>
            <a:ext cx="2651760" cy="12802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15" name="Text 11"/>
          <p:cNvSpPr/>
          <p:nvPr/>
        </p:nvSpPr>
        <p:spPr>
          <a:xfrm>
            <a:off x="7818120" y="3977640"/>
            <a:ext cx="3822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−0.011</a:t>
            </a:r>
            <a:endParaRPr lang="en-US" sz="4400" dirty="0"/>
          </a:p>
        </p:txBody>
      </p:sp>
      <p:sp>
        <p:nvSpPr>
          <p:cNvPr id="16" name="Text 12"/>
          <p:cNvSpPr/>
          <p:nvPr/>
        </p:nvSpPr>
        <p:spPr>
          <a:xfrm>
            <a:off x="7818120" y="475488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B' — setelah fine-tune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92440" y="5212080"/>
            <a:ext cx="3273552" cy="6858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83880" y="5212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memulihkan </a:t>
            </a:r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~79%</a:t>
            </a:r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3349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Mengapa B Lebih Buruk dari A?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Generalisasi Estimasi Berat &amp; Deteksi Anomali Broiler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627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Rektifikasi geometris BENAR — masalahnya pada interaksi dengan detektor, bukan kualitas warping.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544982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103120"/>
            <a:ext cx="82296" cy="1737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239572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089" y="254056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37744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Domain mismatch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600200" y="2852928"/>
            <a:ext cx="4169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Detektor dilatih pada gambar ASLI. Input rectified = distribusi tak pernah dilihat saat training. (Penyebab utama.)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90488" y="2103120"/>
            <a:ext cx="544982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0488" y="2103120"/>
            <a:ext cx="82296" cy="173736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7" name="Shape 13"/>
          <p:cNvSpPr/>
          <p:nvPr/>
        </p:nvSpPr>
        <p:spPr>
          <a:xfrm>
            <a:off x="6483096" y="2395728"/>
            <a:ext cx="603504" cy="603504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937" y="2540569"/>
            <a:ext cx="313822" cy="31382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42048" y="237744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Loss di lokalisasi ketat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7242048" y="2852928"/>
            <a:ext cx="4169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utuh (0.900→0.897) tapi mAP50-95 turun (0.710→0.638): ayam ketemu, kotak kurang pas akibat blur tepi.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4023360"/>
            <a:ext cx="544982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48640" y="4023360"/>
            <a:ext cx="82296" cy="1737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Shape 18"/>
          <p:cNvSpPr/>
          <p:nvPr/>
        </p:nvSpPr>
        <p:spPr>
          <a:xfrm>
            <a:off x="841248" y="431596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089" y="4460809"/>
            <a:ext cx="313822" cy="31382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29768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FOV trim di tepi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1600200" y="4773168"/>
            <a:ext cx="4169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MOWA menarik tepi masuk → objek pinggir keluar frame; box GT ter-warp keluar dibuang saat eval.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190488" y="4023360"/>
            <a:ext cx="544982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190488" y="4023360"/>
            <a:ext cx="82296" cy="173736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9" name="Shape 23"/>
          <p:cNvSpPr/>
          <p:nvPr/>
        </p:nvSpPr>
        <p:spPr>
          <a:xfrm>
            <a:off x="6483096" y="4315968"/>
            <a:ext cx="603504" cy="603504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937" y="4460809"/>
            <a:ext cx="313822" cy="31382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42048" y="429768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Manfaat tak relevan</a:t>
            </a:r>
            <a:endParaRPr lang="en-US" sz="1650" dirty="0"/>
          </a:p>
        </p:txBody>
      </p:sp>
      <p:sp>
        <p:nvSpPr>
          <p:cNvPr id="32" name="Text 25"/>
          <p:cNvSpPr/>
          <p:nvPr/>
        </p:nvSpPr>
        <p:spPr>
          <a:xfrm>
            <a:off x="7242048" y="4773168"/>
            <a:ext cx="4169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Meluruskan rel/feeder tak membantu deteksi ayam. Biaya (resampling+trim) langsung, manfaat geometris tidak.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3349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B' — Yang Dilakukan &amp; Mengapa Masih &lt; 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Generalisasi Estimasi Berat &amp; Deteksi Anomali Broiler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54864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783080"/>
            <a:ext cx="548640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 yang dilakukan B'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68680" y="2514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4688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Rektifikasi juga train set PIO (+ label ikut di-warp).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31729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17320" y="31272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 dari bobot baseline A (bukan dari nol).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" y="38313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417320" y="378561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ulang di domain rectified: 20 epoch, imgsz 960.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68680" y="448970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417320" y="444398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ulang → kondisi B', bandingkan dengan A.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22960" y="5257800"/>
            <a:ext cx="4937760" cy="731520"/>
          </a:xfrm>
          <a:prstGeom prst="roundRect">
            <a:avLst>
              <a:gd name="adj" fmla="val 7500"/>
            </a:avLst>
          </a:prstGeom>
          <a:solidFill>
            <a:srgbClr val="F5F8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5257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membaik −0.053 → −0.011 (pulih ~79%). Membuktikan loss B sebagian besar domain mismatch.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263640" y="1783080"/>
            <a:ext cx="5376672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263640" y="1783080"/>
            <a:ext cx="5376672" cy="10972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27" name="Text 24"/>
          <p:cNvSpPr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Mengapa sisa −0.011 tak hilang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537960" y="23957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menghapus mismatch domain, tapi tiga kerugian ini sudah hilang di piksel — tak bisa dipulihkan pelatihan: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537960" y="3108960"/>
            <a:ext cx="512064" cy="512064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855" y="3231855"/>
            <a:ext cx="266273" cy="266273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17804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loss (resampling)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7178040" y="34015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Tepi yang melunak tak bisa ditajamkan lagi; model hanya belajar hidup dengannya.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537960" y="4096512"/>
            <a:ext cx="512064" cy="512064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855" y="4219407"/>
            <a:ext cx="266273" cy="266273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178040" y="40782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 trim / cropping</a:t>
            </a:r>
            <a:endParaRPr lang="en-US" sz="1350" dirty="0"/>
          </a:p>
        </p:txBody>
      </p:sp>
      <p:sp>
        <p:nvSpPr>
          <p:cNvPr id="36" name="Text 31"/>
          <p:cNvSpPr/>
          <p:nvPr/>
        </p:nvSpPr>
        <p:spPr>
          <a:xfrm>
            <a:off x="7178040" y="43891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yang keluar frame tak bisa dideteksi seberapapun baik pelatihannya.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6537960" y="5084064"/>
            <a:ext cx="512064" cy="512064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855" y="5206959"/>
            <a:ext cx="266273" cy="266273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178040" y="50657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 ada sinyal baru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7178040" y="537667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geometris bukan target deteksi; distorsi ringan tubuh ayam sudah 'diserap' detektor asli.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63349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LANDASAN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Referensi Utama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1091672" cy="18288"/>
          </a:xfrm>
          <a:prstGeom prst="rect">
            <a:avLst/>
          </a:prstGeom>
          <a:solidFill>
            <a:srgbClr val="D9E2E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 — Generalisasi Estimasi Berat &amp; Deteksi Anomali Broiler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11091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783080"/>
            <a:ext cx="82296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03911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03911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194560" y="191109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MOWA: Multiple-in-One Image Warping Model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2194560" y="22585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Liao, Yue, Wu, Loy — IEEE TPAMI 2025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784080" y="1783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arXiv:2404.10716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2679192"/>
            <a:ext cx="11091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679192"/>
            <a:ext cx="82296" cy="82296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17" name="Shape 14"/>
          <p:cNvSpPr/>
          <p:nvPr/>
        </p:nvSpPr>
        <p:spPr>
          <a:xfrm>
            <a:off x="777240" y="2935224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0F2A43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293522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194560" y="28072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WoodScape: Multi-Task, Multi-Camera Fisheye Dataset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2194560" y="31546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Yogamani dkk. — ICCV 2019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784080" y="26791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arXiv:1905.01489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3575304"/>
            <a:ext cx="11091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" y="3575304"/>
            <a:ext cx="82296" cy="82296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4" name="Shape 21"/>
          <p:cNvSpPr/>
          <p:nvPr/>
        </p:nvSpPr>
        <p:spPr>
          <a:xfrm>
            <a:off x="777240" y="3831336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0F2A43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383133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194560" y="3703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FisheyeDetNet: Object Detection on Fisheye Surround-View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2194560" y="40507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Sistu &amp; Yogamani — 2024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9784080" y="357530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arXiv:2404.13443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4471416"/>
            <a:ext cx="11091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8640" y="4471416"/>
            <a:ext cx="82296" cy="82296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1" name="Shape 28"/>
          <p:cNvSpPr/>
          <p:nvPr/>
        </p:nvSpPr>
        <p:spPr>
          <a:xfrm>
            <a:off x="777240" y="4727448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0F2A43"/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" y="47274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2194560" y="45994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Generalized Object Detection on Fisheye (FisheyeYOLO)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2194560" y="494690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Rashed dkk. — WACV 2021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9784080" y="447141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arXiv:2012.02124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48640" y="5367528"/>
            <a:ext cx="11091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48640" y="5367528"/>
            <a:ext cx="82296" cy="82296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38" name="Shape 35"/>
          <p:cNvSpPr/>
          <p:nvPr/>
        </p:nvSpPr>
        <p:spPr>
          <a:xfrm>
            <a:off x="777240" y="5623560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9A23B"/>
          </a:solidFill>
          <a:ln/>
        </p:spPr>
      </p:sp>
      <p:sp>
        <p:nvSpPr>
          <p:cNvPr id="39" name="Text 36"/>
          <p:cNvSpPr/>
          <p:nvPr/>
        </p:nvSpPr>
        <p:spPr>
          <a:xfrm>
            <a:off x="777240" y="5623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2194560" y="54955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Benchmarking BEV Detection, Mixed Pinhole+Fisheye (KITTI-360)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2194560" y="584301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&amp; Shen (fortiss/TUM) — 2026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9784080" y="536752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arXiv:2603.27818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4572000" cy="4572000"/>
          </a:xfrm>
          <a:prstGeom prst="ellipse">
            <a:avLst/>
          </a:prstGeom>
          <a:ln w="1524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4754880"/>
            <a:ext cx="2926080" cy="2926080"/>
          </a:xfrm>
          <a:prstGeom prst="ellipse">
            <a:avLst/>
          </a:prstGeom>
          <a:ln w="16510">
            <a:solidFill>
              <a:srgbClr val="E9A23B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777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5280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783080" y="11704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Hasil Negatif yang Valid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00200" y="2286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MOWA tidak mengalahkan baseline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600200" y="267004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9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 praproses, rektifikasi MOWA lebih buruk (−0.053); setelah fine-tune tetap ~1 pt di bawah A (−0.011).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5204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600200" y="3474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Penyebab dipahami &amp; terukur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600200" y="38587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9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mismatch (pulih via fine-tune) + information loss &amp; FOV trim (permanen) + manfaat geometris tak relevan bagi deteksi.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" y="47091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600200" y="4663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Konsisten dengan literatur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600200" y="5047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9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WoodScape &amp; benchmark KITTI-360: untuk kamera distorsi ringan, undistortion tak andal meningkatkan detektor modern.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14400" y="5943600"/>
            <a:ext cx="2011680" cy="4114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6080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skripsi:  </a:t>
            </a:r>
            <a:pPr indent="0" marL="0">
              <a:buNone/>
            </a:pPr>
            <a:r>
              <a:rPr lang="en-US" sz="1250" i="1" dirty="0">
                <a:solidFill>
                  <a:srgbClr val="AE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empiris + penjelasan mekanistik mengapa rektifikasi fisheye belum menguntungkan pada domain broiler ini.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MOWA &amp; Eksperimen A/B/B'</dc:title>
  <dc:subject>PptxGenJS Presentation</dc:subject>
  <dc:creator>Skripsi Broiler</dc:creator>
  <cp:lastModifiedBy>Skripsi Broiler</cp:lastModifiedBy>
  <cp:revision>1</cp:revision>
  <dcterms:created xsi:type="dcterms:W3CDTF">2026-07-02T02:00:06Z</dcterms:created>
  <dcterms:modified xsi:type="dcterms:W3CDTF">2026-07-02T02:00:06Z</dcterms:modified>
</cp:coreProperties>
</file>